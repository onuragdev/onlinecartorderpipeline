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798300-9DCF-4746-B3DC-CC4D9CE04103}" v="4" dt="2026-10-16T03:07:46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nuragDev/OnlineCartOrderPipelin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000" dirty="0"/>
              <a:t>Online Shopping Checkout with Card Validation</a:t>
            </a:r>
            <a:br>
              <a:rPr lang="en-IN" sz="4000" dirty="0"/>
            </a:br>
            <a:r>
              <a:rPr lang="en-IN" sz="4000" dirty="0"/>
              <a:t>Team No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Aanurag - 2620030684</a:t>
            </a:r>
          </a:p>
          <a:p>
            <a:r>
              <a:rPr lang="en-IN" dirty="0"/>
              <a:t>Amlan - 2620040026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16-10-2026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400" dirty="0"/>
              <a:t>A console-based Java program where a customer picks a product from an inventory and pays by card.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The card number is checked for length (15 or 16 digits) and verified with the Luhn algorithm.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The card type is detected automatically: VISA, MASTERCARD, AMEX or RUPAY.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A custom exception and try / catch / finally handle wrong inputs without crashing the program.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400" dirty="0"/>
              <a:t>Mistyped or fake card numbers cause failed payments and wasted transactions.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A checkout must validate the card before the payment goes through.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Users may type letters or an item number that does not exist, and the program must not crash.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Goal: a simple, robust checkout with clear error messages for every kind of bad input.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00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000" b="1" dirty="0"/>
              <a:t>int</a:t>
            </a:r>
            <a:r>
              <a:rPr lang="en-IN" sz="2000" dirty="0"/>
              <a:t> for choice, price, sum and digit (whole numbers).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String</a:t>
            </a:r>
            <a:r>
              <a:rPr lang="en-IN" sz="2000" dirty="0"/>
              <a:t> for product name, card input and digits.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boolean</a:t>
            </a:r>
            <a:r>
              <a:rPr lang="en-IN" sz="2000" dirty="0"/>
              <a:t> flag doubleIt switches on and off while checking the card.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Arrays and objects: </a:t>
            </a:r>
            <a:r>
              <a:rPr lang="en-IN" sz="2000" dirty="0"/>
              <a:t>Product[] inventory holds the products, and Scanner reads input.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20" name="Code Box 20"/>
          <p:cNvSpPr txBox="1"/>
          <p:nvPr/>
        </p:nvSpPr>
        <p:spPr>
          <a:xfrm>
            <a:off x="6050000" y="1825625"/>
            <a:ext cx="5304000" cy="4351338"/>
          </a:xfrm>
          <a:prstGeom prst="rect">
            <a:avLst/>
          </a:prstGeom>
          <a:solidFill>
            <a:srgbClr val="F3F4F6"/>
          </a:solidFill>
          <a:ln w="9525">
            <a:solidFill>
              <a:srgbClr val="BFC5CD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Product[] inventory =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new Product("Laptop", 60000),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new Product("iPhone", 80000)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// ... 4 products in total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};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int choice = Integer.parseInt(input);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String digits = input.replace(" ", "");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int sum =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boolean doubleIt = false;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int digit = digits.charAt(i) - '0';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00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000" b="1" dirty="0"/>
              <a:t>for loop (forward): </a:t>
            </a:r>
            <a:r>
              <a:rPr lang="en-IN" sz="2000" dirty="0"/>
              <a:t>prints every item of the inventory with its number.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for loop (backward): </a:t>
            </a:r>
            <a:r>
              <a:rPr lang="en-IN" sz="2000" dirty="0"/>
              <a:t>walks the card digits from right to left for the Luhn check.</a:t>
            </a:r>
          </a:p>
          <a:p>
            <a:pPr>
              <a:spcBef>
                <a:spcPts val="900"/>
              </a:spcBef>
            </a:pPr>
            <a:r>
              <a:rPr lang="en-IN" sz="2000" dirty="0"/>
              <a:t>Each pass reads one digit, adds it to sum and flips doubleIt.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20" name="Code Box 20"/>
          <p:cNvSpPr txBox="1"/>
          <p:nvPr/>
        </p:nvSpPr>
        <p:spPr>
          <a:xfrm>
            <a:off x="6050000" y="1825625"/>
            <a:ext cx="5304000" cy="4351338"/>
          </a:xfrm>
          <a:prstGeom prst="rect">
            <a:avLst/>
          </a:prstGeom>
          <a:solidFill>
            <a:srgbClr val="F3F4F6"/>
          </a:solidFill>
          <a:ln w="9525">
            <a:solidFill>
              <a:srgbClr val="BFC5CD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// Print the inventory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for (int i = 0; i &lt; inventory.length; i++)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System.out.println((i + 1) + ") 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    + inventory[i]);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// Luhn: digits from right to left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for (int i = digits.length() - 1;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    i &gt;= 0; i--)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// read digit, add to sum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doubleIt = !doubleIt;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00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000" b="1" dirty="0"/>
              <a:t>Nested if: </a:t>
            </a:r>
            <a:r>
              <a:rPr lang="en-IN" sz="2000" dirty="0"/>
              <a:t>double the digit, then subtract 9 if the result is above 9.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Validation ifs: </a:t>
            </a:r>
            <a:r>
              <a:rPr lang="en-IN" sz="2000" dirty="0"/>
              <a:t>reject the card if the length is wrong or the Luhn check fails.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if / else if chain: </a:t>
            </a:r>
            <a:r>
              <a:rPr lang="en-IN" sz="2000" dirty="0"/>
              <a:t>picks the card type from the starting digits.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20" name="Code Box 20"/>
          <p:cNvSpPr txBox="1"/>
          <p:nvPr/>
        </p:nvSpPr>
        <p:spPr>
          <a:xfrm>
            <a:off x="6050000" y="1825625"/>
            <a:ext cx="5304000" cy="4351338"/>
          </a:xfrm>
          <a:prstGeom prst="rect">
            <a:avLst/>
          </a:prstGeom>
          <a:solidFill>
            <a:srgbClr val="F3F4F6"/>
          </a:solidFill>
          <a:ln w="9525">
            <a:solidFill>
              <a:srgbClr val="BFC5CD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if (doubleIt)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digit *= 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if (digit &gt; 9)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    digit -= 9;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if (!isLuhnValid(digits))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throw new InvalidCardException(...);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if (number.startsWith("4"))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return "VISA";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 else if (firstTwo &gt;= 51 &amp;&amp; firstTwo &lt;= 55)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return "MASTERCARD";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00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000" b="1" dirty="0"/>
              <a:t>Parameterized: </a:t>
            </a:r>
            <a:r>
              <a:rPr lang="en-IN" sz="2000" dirty="0"/>
              <a:t>isLuhnValid(String digits) takes the card number and returns true or false.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Parameterized: </a:t>
            </a:r>
            <a:r>
              <a:rPr lang="en-IN" sz="2000" dirty="0"/>
              <a:t>main(String[] args) is the entry point of the program.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Non-parameterized: </a:t>
            </a:r>
            <a:r>
              <a:rPr lang="en-IN" sz="2000" dirty="0"/>
              <a:t>getCardType() and toString() take no input.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20" name="Code Box 20"/>
          <p:cNvSpPr txBox="1"/>
          <p:nvPr/>
        </p:nvSpPr>
        <p:spPr>
          <a:xfrm>
            <a:off x="6050000" y="1825625"/>
            <a:ext cx="5304000" cy="4351338"/>
          </a:xfrm>
          <a:prstGeom prst="rect">
            <a:avLst/>
          </a:prstGeom>
          <a:solidFill>
            <a:srgbClr val="F3F4F6"/>
          </a:solidFill>
          <a:ln w="9525">
            <a:solidFill>
              <a:srgbClr val="BFC5CD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// Parameterized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private boolean isLuhnValid(String digits)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return sum % 10 ==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// Non-parameterized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public String getCardType()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return "UNKNOWN";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// Calling them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isLuhnValid(digits);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card.getCardType();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00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000" b="1" dirty="0"/>
              <a:t>Product(String name, int price): </a:t>
            </a:r>
            <a:r>
              <a:rPr lang="en-IN" sz="2000" dirty="0"/>
              <a:t>sets the product fields using this.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Card(String input): </a:t>
            </a:r>
            <a:r>
              <a:rPr lang="en-IN" sz="2000" dirty="0"/>
              <a:t>checks the number and creates no Card if it is bad.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InvalidCardException(String message): </a:t>
            </a:r>
            <a:r>
              <a:rPr lang="en-IN" sz="2000" dirty="0"/>
              <a:t>passes the message to super().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20" name="Code Box 20"/>
          <p:cNvSpPr txBox="1"/>
          <p:nvPr/>
        </p:nvSpPr>
        <p:spPr>
          <a:xfrm>
            <a:off x="6050000" y="1825625"/>
            <a:ext cx="5304000" cy="4351338"/>
          </a:xfrm>
          <a:prstGeom prst="rect">
            <a:avLst/>
          </a:prstGeom>
          <a:solidFill>
            <a:srgbClr val="F3F4F6"/>
          </a:solidFill>
          <a:ln w="9525">
            <a:solidFill>
              <a:srgbClr val="BFC5CD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public Product(String name, int price)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this.name = name;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this.price = price;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public Card(String input)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    throws InvalidCardException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// validate, then store the number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this.number = digits;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public InvalidCardException(String message)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    super(message);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000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000" b="1" dirty="0"/>
              <a:t>trim() and replace(): </a:t>
            </a:r>
            <a:r>
              <a:rPr lang="en-IN" sz="2000" dirty="0"/>
              <a:t>clean the typed input and remove spaces.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matches(): </a:t>
            </a:r>
            <a:r>
              <a:rPr lang="en-IN" sz="2000" dirty="0"/>
              <a:t>checks the card is 15 or 16 digits using a pattern.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charAt(), length(): </a:t>
            </a:r>
            <a:r>
              <a:rPr lang="en-IN" sz="2000" dirty="0"/>
              <a:t>read each digit of the card number.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substring(), startsWith(): </a:t>
            </a:r>
            <a:r>
              <a:rPr lang="en-IN" sz="2000" dirty="0"/>
              <a:t>read the first digits to find the card type.</a:t>
            </a:r>
          </a:p>
          <a:p>
            <a:pPr>
              <a:spcBef>
                <a:spcPts val="900"/>
              </a:spcBef>
            </a:pPr>
            <a:r>
              <a:rPr lang="en-IN" sz="2000" b="1" dirty="0"/>
              <a:t>Concatenation: </a:t>
            </a:r>
            <a:r>
              <a:rPr lang="en-IN" sz="2000" dirty="0"/>
              <a:t>builds the inventory and cart messages.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20" name="Code Box 20"/>
          <p:cNvSpPr txBox="1"/>
          <p:nvPr/>
        </p:nvSpPr>
        <p:spPr>
          <a:xfrm>
            <a:off x="6050000" y="1825625"/>
            <a:ext cx="5304000" cy="4351338"/>
          </a:xfrm>
          <a:prstGeom prst="rect">
            <a:avLst/>
          </a:prstGeom>
          <a:solidFill>
            <a:srgbClr val="F3F4F6"/>
          </a:solidFill>
          <a:ln w="9525">
            <a:solidFill>
              <a:srgbClr val="BFC5CD"/>
            </a:solidFill>
          </a:ln>
        </p:spPr>
        <p:txBody>
          <a:bodyPr wrap="square" lIns="137160" tIns="91440" rIns="137160" bIns="9144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scanner.nextLine().trim()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input.replace(" ", "")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digits.matches("\\d{15,16}")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digits.length()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digits.charAt(i) - '0'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number.substring(0, 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number.startsWith("4")</a:t>
            </a:r>
          </a:p>
          <a:p>
            <a:pPr marL="0" indent="0">
              <a:buNone/>
            </a:pPr>
            <a:endParaRPr lang="en-US" sz="13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(i + 1) + ") " + inventory[i]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300" dirty="0">
                <a:solidFill>
                  <a:srgbClr val="1F2937"/>
                </a:solidFill>
                <a:latin typeface="Courier New"/>
                <a:cs typeface="Courier New"/>
              </a:rPr>
              <a:t>"Your cart is - " + item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Bef>
                <a:spcPts val="900"/>
              </a:spcBef>
            </a:pPr>
            <a:r>
              <a:rPr lang="en-IN" sz="2400" dirty="0"/>
              <a:t>One working program covers variables, loops, if statements, methods, constructors and String handling.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The Luhn check catches mistyped card numbers before the payment is made.</a:t>
            </a:r>
          </a:p>
          <a:p>
            <a:pPr>
              <a:spcBef>
                <a:spcPts val="900"/>
              </a:spcBef>
            </a:pPr>
            <a:r>
              <a:rPr lang="en-IN" sz="2400" dirty="0"/>
              <a:t>A custom exception with try / catch / finally keeps the program from crashing on bad input.</a:t>
            </a:r>
          </a:p>
          <a:p>
            <a:pPr>
              <a:spcBef>
                <a:spcPts val="900"/>
              </a:spcBef>
            </a:pPr>
            <a:r>
              <a:rPr lang="en-IN" sz="2400" b="1" dirty="0"/>
              <a:t>Future scope: </a:t>
            </a:r>
            <a:r>
              <a:rPr lang="en-IN" sz="2400" dirty="0"/>
              <a:t>quantity and cart total, more card types, a GUI and a database.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sp>
        <p:nvSpPr>
          <p:cNvPr id="20" name="Frame 20"/>
          <p:cNvSpPr/>
          <p:nvPr/>
        </p:nvSpPr>
        <p:spPr>
          <a:xfrm>
            <a:off x="838200" y="1900000"/>
            <a:ext cx="3300000" cy="350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Caption 21"/>
          <p:cNvSpPr txBox="1"/>
          <p:nvPr/>
        </p:nvSpPr>
        <p:spPr>
          <a:xfrm>
            <a:off x="838200" y="5460000"/>
            <a:ext cx="33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IN" sz="1400" dirty="0">
                <a:solidFill>
                  <a:srgbClr val="4B5563"/>
                </a:solidFill>
              </a:rPr>
              <a:t>Inventory and item selection</a:t>
            </a:r>
          </a:p>
        </p:txBody>
      </p:sp>
      <p:sp>
        <p:nvSpPr>
          <p:cNvPr id="22" name="Frame 22"/>
          <p:cNvSpPr/>
          <p:nvPr/>
        </p:nvSpPr>
        <p:spPr>
          <a:xfrm>
            <a:off x="4446000" y="1900000"/>
            <a:ext cx="3300000" cy="350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Caption 23"/>
          <p:cNvSpPr txBox="1"/>
          <p:nvPr/>
        </p:nvSpPr>
        <p:spPr>
          <a:xfrm>
            <a:off x="4446000" y="5460000"/>
            <a:ext cx="33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IN" sz="1400" dirty="0">
                <a:solidFill>
                  <a:srgbClr val="4B5563"/>
                </a:solidFill>
              </a:rPr>
              <a:t>Successful payment</a:t>
            </a:r>
          </a:p>
        </p:txBody>
      </p:sp>
      <p:sp>
        <p:nvSpPr>
          <p:cNvPr id="24" name="Frame 24"/>
          <p:cNvSpPr/>
          <p:nvPr/>
        </p:nvSpPr>
        <p:spPr>
          <a:xfrm>
            <a:off x="8053800" y="1900000"/>
            <a:ext cx="3300000" cy="350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5" name="Caption 25"/>
          <p:cNvSpPr txBox="1"/>
          <p:nvPr/>
        </p:nvSpPr>
        <p:spPr>
          <a:xfrm>
            <a:off x="8053800" y="5460000"/>
            <a:ext cx="33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IN" sz="1400" dirty="0">
                <a:solidFill>
                  <a:srgbClr val="4B5563"/>
                </a:solidFill>
              </a:rPr>
              <a:t>Invalid card or wrong input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46D542-6C94-B638-4146-C75D2ADDB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53" y="1444349"/>
            <a:ext cx="3481547" cy="39556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E69ED3-42DD-E99C-BE09-5C6069E70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9747" y="1444349"/>
            <a:ext cx="3652617" cy="39556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86C706-3791-C844-F105-66BC06D72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3800" y="1444349"/>
            <a:ext cx="3522785" cy="395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  <p:sp>
        <p:nvSpPr>
          <p:cNvPr id="20" name="Frame 20"/>
          <p:cNvSpPr/>
          <p:nvPr/>
        </p:nvSpPr>
        <p:spPr>
          <a:xfrm>
            <a:off x="838200" y="1900000"/>
            <a:ext cx="5100000" cy="350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Caption 21"/>
          <p:cNvSpPr txBox="1"/>
          <p:nvPr/>
        </p:nvSpPr>
        <p:spPr>
          <a:xfrm>
            <a:off x="838200" y="5460000"/>
            <a:ext cx="51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IN" sz="1400" dirty="0">
                <a:solidFill>
                  <a:srgbClr val="4B5563"/>
                </a:solidFill>
              </a:rPr>
              <a:t>Geo Tag Photo</a:t>
            </a:r>
          </a:p>
        </p:txBody>
      </p:sp>
      <p:sp>
        <p:nvSpPr>
          <p:cNvPr id="23" name="Caption 23">
            <a:hlinkClick r:id="rId2"/>
          </p:cNvPr>
          <p:cNvSpPr txBox="1"/>
          <p:nvPr/>
        </p:nvSpPr>
        <p:spPr>
          <a:xfrm>
            <a:off x="6253802" y="3048088"/>
            <a:ext cx="510000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IN" sz="3600" dirty="0">
                <a:solidFill>
                  <a:srgbClr val="4B5563"/>
                </a:solidFill>
              </a:rPr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982</Words>
  <Application>Microsoft Office PowerPoint</Application>
  <PresentationFormat>Widescreen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Online Shopping Checkout with Card Validation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Aanurag Chakraborty</cp:lastModifiedBy>
  <cp:revision>3</cp:revision>
  <dcterms:created xsi:type="dcterms:W3CDTF">2026-09-15T09:57:10Z</dcterms:created>
  <dcterms:modified xsi:type="dcterms:W3CDTF">2026-10-16T03:13:59Z</dcterms:modified>
</cp:coreProperties>
</file>