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1" r:id="rId4"/>
    <p:sldId id="258" r:id="rId5"/>
    <p:sldId id="259" r:id="rId6"/>
    <p:sldId id="260" r:id="rId7"/>
    <p:sldId id="263" r:id="rId8"/>
    <p:sldId id="264" r:id="rId9"/>
    <p:sldId id="265" r:id="rId10"/>
    <p:sldId id="266" r:id="rId11"/>
    <p:sldId id="267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798300-9DCF-4746-B3DC-CC4D9CE04103}" v="4" dt="2026-10-16T03:07:46.2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nurag Chakraborty" userId="159497a01ac662aa" providerId="LiveId" clId="{728C35C4-C852-406E-BC1F-424D35DAC54B}"/>
    <pc:docChg chg="custSel modSld">
      <pc:chgData name="Aanurag Chakraborty" userId="159497a01ac662aa" providerId="LiveId" clId="{728C35C4-C852-406E-BC1F-424D35DAC54B}" dt="2026-10-16T03:08:19.732" v="109" actId="255"/>
      <pc:docMkLst>
        <pc:docMk/>
      </pc:docMkLst>
      <pc:sldChg chg="modSp mod">
        <pc:chgData name="Aanurag Chakraborty" userId="159497a01ac662aa" providerId="LiveId" clId="{728C35C4-C852-406E-BC1F-424D35DAC54B}" dt="2026-10-16T02:57:38" v="58" actId="20577"/>
        <pc:sldMkLst>
          <pc:docMk/>
          <pc:sldMk cId="1570750093" sldId="256"/>
        </pc:sldMkLst>
        <pc:spChg chg="mod">
          <ac:chgData name="Aanurag Chakraborty" userId="159497a01ac662aa" providerId="LiveId" clId="{728C35C4-C852-406E-BC1F-424D35DAC54B}" dt="2026-10-16T02:57:38" v="58" actId="20577"/>
          <ac:spMkLst>
            <pc:docMk/>
            <pc:sldMk cId="1570750093" sldId="256"/>
            <ac:spMk id="3" creationId="{A452AC95-AA7D-A76A-037F-6B2DB5A27E48}"/>
          </ac:spMkLst>
        </pc:spChg>
      </pc:sldChg>
      <pc:sldChg chg="delSp modSp mod">
        <pc:chgData name="Aanurag Chakraborty" userId="159497a01ac662aa" providerId="LiveId" clId="{728C35C4-C852-406E-BC1F-424D35DAC54B}" dt="2026-10-16T03:08:19.732" v="109" actId="255"/>
        <pc:sldMkLst>
          <pc:docMk/>
          <pc:sldMk cId="1396777043" sldId="262"/>
        </pc:sldMkLst>
        <pc:spChg chg="del">
          <ac:chgData name="Aanurag Chakraborty" userId="159497a01ac662aa" providerId="LiveId" clId="{728C35C4-C852-406E-BC1F-424D35DAC54B}" dt="2026-10-16T03:06:12.785" v="82" actId="478"/>
          <ac:spMkLst>
            <pc:docMk/>
            <pc:sldMk cId="1396777043" sldId="262"/>
            <ac:spMk id="22" creationId="{00000000-0000-0000-0000-000000000000}"/>
          </ac:spMkLst>
        </pc:spChg>
        <pc:spChg chg="mod">
          <ac:chgData name="Aanurag Chakraborty" userId="159497a01ac662aa" providerId="LiveId" clId="{728C35C4-C852-406E-BC1F-424D35DAC54B}" dt="2026-10-16T03:08:19.732" v="109" actId="255"/>
          <ac:spMkLst>
            <pc:docMk/>
            <pc:sldMk cId="1396777043" sldId="262"/>
            <ac:spMk id="23" creationId="{00000000-0000-0000-0000-000000000000}"/>
          </ac:spMkLst>
        </pc:spChg>
      </pc:sldChg>
      <pc:sldChg chg="addSp delSp modSp mod">
        <pc:chgData name="Aanurag Chakraborty" userId="159497a01ac662aa" providerId="LiveId" clId="{728C35C4-C852-406E-BC1F-424D35DAC54B}" dt="2026-10-16T03:04:43.336" v="81" actId="14100"/>
        <pc:sldMkLst>
          <pc:docMk/>
          <pc:sldMk cId="2015298957" sldId="267"/>
        </pc:sldMkLst>
        <pc:picChg chg="add del mod">
          <ac:chgData name="Aanurag Chakraborty" userId="159497a01ac662aa" providerId="LiveId" clId="{728C35C4-C852-406E-BC1F-424D35DAC54B}" dt="2026-10-16T03:01:09.546" v="63" actId="478"/>
          <ac:picMkLst>
            <pc:docMk/>
            <pc:sldMk cId="2015298957" sldId="267"/>
            <ac:picMk id="6" creationId="{24312597-5E9A-A5C3-A2AE-B281B3A4235E}"/>
          </ac:picMkLst>
        </pc:picChg>
        <pc:picChg chg="add mod">
          <ac:chgData name="Aanurag Chakraborty" userId="159497a01ac662aa" providerId="LiveId" clId="{728C35C4-C852-406E-BC1F-424D35DAC54B}" dt="2026-10-16T03:01:37.277" v="68" actId="1076"/>
          <ac:picMkLst>
            <pc:docMk/>
            <pc:sldMk cId="2015298957" sldId="267"/>
            <ac:picMk id="8" creationId="{5746D542-6C94-B638-4146-C75D2ADDBD9F}"/>
          </ac:picMkLst>
        </pc:picChg>
        <pc:picChg chg="add mod">
          <ac:chgData name="Aanurag Chakraborty" userId="159497a01ac662aa" providerId="LiveId" clId="{728C35C4-C852-406E-BC1F-424D35DAC54B}" dt="2026-10-16T03:04:32.482" v="80" actId="14100"/>
          <ac:picMkLst>
            <pc:docMk/>
            <pc:sldMk cId="2015298957" sldId="267"/>
            <ac:picMk id="10" creationId="{DDE69ED3-42DD-E99C-BE09-5C6069E7053C}"/>
          </ac:picMkLst>
        </pc:picChg>
        <pc:picChg chg="add mod">
          <ac:chgData name="Aanurag Chakraborty" userId="159497a01ac662aa" providerId="LiveId" clId="{728C35C4-C852-406E-BC1F-424D35DAC54B}" dt="2026-10-16T03:04:43.336" v="81" actId="14100"/>
          <ac:picMkLst>
            <pc:docMk/>
            <pc:sldMk cId="2015298957" sldId="267"/>
            <ac:picMk id="12" creationId="{A686C706-3791-C844-F105-66BC06D7258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7AFC0-00B8-4117-895C-3E834B171036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476CA-421D-4B57-8942-5762D93F1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16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F3B8-DDEB-3931-BD30-FCDF92768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E52B7-3612-C42C-E3C4-1568700E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2A539-9977-5E0E-CDC1-067BB186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49C3-E12B-4CC2-9FA1-D4C0643B7241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91C38-BEF3-AA2E-ACFE-DCF1543B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CB7FA-8196-F586-E960-B5BAE429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B3F1FD-0147-797C-0ED6-E694A2BD62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9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259C4-DC4A-CF70-25D2-F39535A1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6C27E-0A06-D409-8884-852E74A29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AC31F-7BFD-CA38-00A7-A2FD01A0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15AD4-5B3F-78FD-DE66-C3F50AC63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0549F-8592-A2F0-A7A6-A1C45E9E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81CCB4-DDFA-058A-AE03-5A3CFCA9F8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AB08-E23E-771E-1FDE-DC7851594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36FC1-1DB6-A8A4-C315-834C3FFCF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65D3F-93C4-BE6A-B0D8-5AFF3E69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BF378-8F16-492D-87B3-963C20ACF441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2169B-9903-41C3-CC1A-A773A925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C6B5-6988-9DF9-8223-C5EB677C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DABBD-F85F-360C-A546-D5E0B92597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5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988FF-7E75-1B89-7C11-7B6C180B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E0077-B676-7850-AAD4-77689FB5B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4118E-9650-EED0-1592-D4AD00CF4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D1BDD-D86C-6A53-CEF7-1AEC9AB1A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781E-9150-4561-9F7C-01394C55C5AE}" type="datetime1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15FF2-A4C5-135F-9FA1-A00A6BF9A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FB8AA-FC6D-B278-7FFF-C52EF430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064E1C-D746-419C-5FE6-033B95CAC3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6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900-8F42-8A20-E378-434465ED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DB5D6-6D80-913C-77A3-83E1C2757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7E712-FB4A-DBE7-7EE8-B34465C75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C7C92-E667-0F30-6C26-267F10CBC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1715A-AF86-785C-73F2-00FF9D5D32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1D6D5-269C-31AC-CC40-917E0E24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2896-961F-4F7A-B2DD-D0EFF57BA027}" type="datetime1">
              <a:rPr lang="en-IN" smtClean="0"/>
              <a:t>16-10-2026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0DFF97-DB90-A3DC-1A5F-E041ABA4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DFEC1F-4C0D-B461-B76D-FAFE7A86B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D765FD-6DB7-1155-27BC-BD0DB45299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33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FB57-0CBB-0AA3-9BF0-2ED23379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2CE64-C359-3445-7AB9-29DE8577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51132-6BA4-40BC-AB03-D6B9C4F193FC}" type="datetime1">
              <a:rPr lang="en-IN" smtClean="0"/>
              <a:t>16-10-2026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63F73F-0420-C605-3EFF-74CBBE1B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EE44D-529C-1AC9-123B-7EBF53FA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A6640D-01A3-9B0C-80EF-F10DE42207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580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479728-5FED-202E-6651-A7474C32A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  <a:t>16-10-2026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F6D777-ECC4-1DAB-81FF-7D7AF3FF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56A1D-0096-D4B4-2B11-1CDFE331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0B416-1EF4-3CD6-8E26-DC636E7B37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29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5010-2418-091A-429D-37E400AB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91DC8-3F06-BF0E-8109-8C1FEDEAD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44A7E-4423-60E2-E6E9-AAF09976D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3B07B-D8E2-C0AA-F7E4-545DF979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E2A2-8283-469E-B4A1-D6877668ECFE}" type="datetime1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B3DF0-CC05-0B05-24D9-6663B5E1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B53E2-0205-A987-5D45-0DFC51D8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6F4A6A-FE20-C82E-95DD-FA2A5FCB0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7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7E51-2E25-5BFC-2696-794A224B6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9DC63-25C2-8B4F-3683-6B0A9BC75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EBA80-D1E6-9786-229E-B9B70D9BD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DED29-F47E-2534-AFB4-003A8091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0A723-EDD4-4822-84BE-4B7F697B4E56}" type="datetime1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6DE89-3F60-1B9B-0597-F389CAA72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B78F6-7EC0-BF15-5CA1-F0159D79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256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8785-1FEB-0757-FEC8-6AA1CB86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94473-1718-0D76-22B7-33E82D611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9B1E2-29EC-2F2E-B362-55E80C4D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764-2CC6-431B-B501-1DF197EE73CC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6D9E9-31F7-01F5-C19A-438C4077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E1B4F-5C80-EFB0-BA9F-8F17B844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2412BD-D800-391F-9FB6-159E83E747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46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43F02-0084-480F-2BA3-75A1C0102C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22D9D-B106-6765-76CF-C9843EC19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262E0-081B-BE3A-F92B-73DE583E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EFFA-3959-41FE-A774-B9B27FD8983C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9D4DC-613B-8105-F661-A37BB2AD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46AAE-21DC-2AE1-CF07-91F73A4D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544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48038-F901-EAD1-D5DB-03603E89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E2A14-F9FA-9B0B-5AA7-D785E09BA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56813-B660-C26F-CFEF-AF22C547F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F4BF4-0D93-4F1E-82BB-778F1EDDD45F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697EB-16D9-74E1-1448-0CDC28071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42DC9-4178-3222-F3F2-C5EC792CA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48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nuragDev/OnlineCartOrderPipelin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0CCFF-527E-4AC9-A45F-A8196F49E0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4000" dirty="0"/>
              <a:t>Online Shopping Checkout with Card Validation</a:t>
            </a:r>
            <a:br>
              <a:rPr lang="en-IN" sz="4000" dirty="0"/>
            </a:br>
            <a:r>
              <a:rPr lang="en-IN" sz="4000" dirty="0"/>
              <a:t>Team No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2AC95-AA7D-A76A-037F-6B2DB5A27E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Aanurag - 2620030684</a:t>
            </a:r>
          </a:p>
          <a:p>
            <a:r>
              <a:rPr lang="en-IN" dirty="0"/>
              <a:t>Amlan - 2620040026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FCDBBB2-97B1-B1CE-72F7-62625B779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7D318-FBF5-482E-BB10-69D54EA53D7B}" type="datetime1">
              <a:rPr lang="en-IN" smtClean="0"/>
              <a:t>16-10-2026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7EDCEF-417A-3750-BB67-C2592E7FA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750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71AF3-F02C-0F4C-0929-57F8B7535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12F73-2B13-AB30-C0D8-CBA5CE269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spcBef>
                <a:spcPts val="900"/>
              </a:spcBef>
            </a:pPr>
            <a:r>
              <a:rPr lang="en-IN" sz="2400" dirty="0"/>
              <a:t>A console-based Java program where a customer picks a product from an inventory and pays by card.</a:t>
            </a:r>
          </a:p>
          <a:p>
            <a:pPr>
              <a:spcBef>
                <a:spcPts val="900"/>
              </a:spcBef>
            </a:pPr>
            <a:r>
              <a:rPr lang="en-IN" sz="2400" dirty="0"/>
              <a:t>The card number is checked for length (15 or 16 digits) and verified with the Luhn algorithm.</a:t>
            </a:r>
          </a:p>
          <a:p>
            <a:pPr>
              <a:spcBef>
                <a:spcPts val="900"/>
              </a:spcBef>
            </a:pPr>
            <a:r>
              <a:rPr lang="en-IN" sz="2400" dirty="0"/>
              <a:t>The card type is detected automatically: VISA, MASTERCARD, AMEX or RUPAY.</a:t>
            </a:r>
          </a:p>
          <a:p>
            <a:pPr>
              <a:spcBef>
                <a:spcPts val="900"/>
              </a:spcBef>
            </a:pPr>
            <a:r>
              <a:rPr lang="en-IN" sz="2400" dirty="0"/>
              <a:t>A custom exception and try / catch / finally handle wrong inputs without crashing the program.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055FA-8EC1-0FDC-21CB-845F9016C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819AD-E7C0-4450-A29A-C3AB3AFFF6BF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CFF38-D9B5-1B3E-0EC5-08CA2C21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338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4AC2B-1702-695F-E0B5-9F6550F04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Understanding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CF377-DEED-0D67-3271-7CBBBC860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spcBef>
                <a:spcPts val="900"/>
              </a:spcBef>
            </a:pPr>
            <a:r>
              <a:rPr lang="en-IN" sz="2400" dirty="0"/>
              <a:t>Mistyped or fake card numbers cause failed payments and wasted transactions.</a:t>
            </a:r>
          </a:p>
          <a:p>
            <a:pPr>
              <a:spcBef>
                <a:spcPts val="900"/>
              </a:spcBef>
            </a:pPr>
            <a:r>
              <a:rPr lang="en-IN" sz="2400" dirty="0"/>
              <a:t>A checkout must validate the card before the payment goes through.</a:t>
            </a:r>
          </a:p>
          <a:p>
            <a:pPr>
              <a:spcBef>
                <a:spcPts val="900"/>
              </a:spcBef>
            </a:pPr>
            <a:r>
              <a:rPr lang="en-IN" sz="2400" dirty="0"/>
              <a:t>Users may type letters or an item number that does not exist, and the program must not crash.</a:t>
            </a:r>
          </a:p>
          <a:p>
            <a:pPr>
              <a:spcBef>
                <a:spcPts val="900"/>
              </a:spcBef>
            </a:pPr>
            <a:r>
              <a:rPr lang="en-IN" sz="2400" dirty="0"/>
              <a:t>Goal: a simple, robust checkout with clear error messages for every kind of bad input.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350AE-3599-26AF-9C41-62ADA08AE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9410-9F72-4C75-ADBD-63106BC7C7D6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61277-3D40-ACA2-AEC9-E9A0E9DC1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090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54CC5-4FD5-611A-4481-E878E281E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1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B5369-B8D0-CB2C-61B6-348BDF6E4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00000" cy="4351338"/>
          </a:xfrm>
        </p:spPr>
        <p:txBody>
          <a:bodyPr>
            <a:normAutofit/>
          </a:bodyPr>
          <a:lstStyle/>
          <a:p>
            <a:pPr>
              <a:spcBef>
                <a:spcPts val="900"/>
              </a:spcBef>
            </a:pPr>
            <a:r>
              <a:rPr lang="en-IN" sz="2000" b="1" dirty="0"/>
              <a:t>int</a:t>
            </a:r>
            <a:r>
              <a:rPr lang="en-IN" sz="2000" dirty="0"/>
              <a:t> for choice, price, sum and digit (whole numbers).</a:t>
            </a:r>
          </a:p>
          <a:p>
            <a:pPr>
              <a:spcBef>
                <a:spcPts val="900"/>
              </a:spcBef>
            </a:pPr>
            <a:r>
              <a:rPr lang="en-IN" sz="2000" b="1" dirty="0"/>
              <a:t>String</a:t>
            </a:r>
            <a:r>
              <a:rPr lang="en-IN" sz="2000" dirty="0"/>
              <a:t> for product name, card input and digits.</a:t>
            </a:r>
          </a:p>
          <a:p>
            <a:pPr>
              <a:spcBef>
                <a:spcPts val="900"/>
              </a:spcBef>
            </a:pPr>
            <a:r>
              <a:rPr lang="en-IN" sz="2000" b="1" dirty="0"/>
              <a:t>boolean</a:t>
            </a:r>
            <a:r>
              <a:rPr lang="en-IN" sz="2000" dirty="0"/>
              <a:t> flag doubleIt switches on and off while checking the card.</a:t>
            </a:r>
          </a:p>
          <a:p>
            <a:pPr>
              <a:spcBef>
                <a:spcPts val="900"/>
              </a:spcBef>
            </a:pPr>
            <a:r>
              <a:rPr lang="en-IN" sz="2000" b="1" dirty="0"/>
              <a:t>Arrays and objects: </a:t>
            </a:r>
            <a:r>
              <a:rPr lang="en-IN" sz="2000" dirty="0"/>
              <a:t>Product[] inventory holds the products, and Scanner reads input.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7C684-562B-9D58-E086-68CEC325C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7212C-F907-4AC4-966E-162B34E8EFA5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33CBD-9819-BA1C-8720-D89215B1A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4</a:t>
            </a:fld>
            <a:endParaRPr lang="en-IN"/>
          </a:p>
        </p:txBody>
      </p:sp>
      <p:sp>
        <p:nvSpPr>
          <p:cNvPr id="20" name="Code Box 20"/>
          <p:cNvSpPr txBox="1"/>
          <p:nvPr/>
        </p:nvSpPr>
        <p:spPr>
          <a:xfrm>
            <a:off x="6050000" y="1825625"/>
            <a:ext cx="5304000" cy="4351338"/>
          </a:xfrm>
          <a:prstGeom prst="rect">
            <a:avLst/>
          </a:prstGeom>
          <a:solidFill>
            <a:srgbClr val="F3F4F6"/>
          </a:solidFill>
          <a:ln w="9525">
            <a:solidFill>
              <a:srgbClr val="BFC5CD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Product[] inventory =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    new Product("Laptop", 60000),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    new Product("iPhone", 80000)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    // ... 4 products in total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};</a:t>
            </a:r>
          </a:p>
          <a:p>
            <a:pPr marL="0" indent="0">
              <a:buNone/>
            </a:pPr>
            <a:endParaRPr lang="en-US" sz="130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int choice = Integer.parseInt(input);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String digits = input.replace(" ", "");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int sum = 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boolean doubleIt = false;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int digit = digits.charAt(i) - '0';</a:t>
            </a:r>
          </a:p>
        </p:txBody>
      </p:sp>
    </p:spTree>
    <p:extLst>
      <p:ext uri="{BB962C8B-B14F-4D97-AF65-F5344CB8AC3E}">
        <p14:creationId xmlns:p14="http://schemas.microsoft.com/office/powerpoint/2010/main" val="410424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4FDF4-A21D-11D6-CA7A-382058E2F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2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27864-8698-BA0E-D44D-3E693AAB4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00000" cy="4351338"/>
          </a:xfrm>
        </p:spPr>
        <p:txBody>
          <a:bodyPr>
            <a:normAutofit/>
          </a:bodyPr>
          <a:lstStyle/>
          <a:p>
            <a:pPr>
              <a:spcBef>
                <a:spcPts val="900"/>
              </a:spcBef>
            </a:pPr>
            <a:r>
              <a:rPr lang="en-IN" sz="2000" b="1" dirty="0"/>
              <a:t>for loop (forward): </a:t>
            </a:r>
            <a:r>
              <a:rPr lang="en-IN" sz="2000" dirty="0"/>
              <a:t>prints every item of the inventory with its number.</a:t>
            </a:r>
          </a:p>
          <a:p>
            <a:pPr>
              <a:spcBef>
                <a:spcPts val="900"/>
              </a:spcBef>
            </a:pPr>
            <a:r>
              <a:rPr lang="en-IN" sz="2000" b="1" dirty="0"/>
              <a:t>for loop (backward): </a:t>
            </a:r>
            <a:r>
              <a:rPr lang="en-IN" sz="2000" dirty="0"/>
              <a:t>walks the card digits from right to left for the Luhn check.</a:t>
            </a:r>
          </a:p>
          <a:p>
            <a:pPr>
              <a:spcBef>
                <a:spcPts val="900"/>
              </a:spcBef>
            </a:pPr>
            <a:r>
              <a:rPr lang="en-IN" sz="2000" dirty="0"/>
              <a:t>Each pass reads one digit, adds it to sum and flips doubleIt.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11724-4931-2511-D4E0-AFF95EF4D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A43E7-AB4E-4C38-9410-6577E2291C02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284BF-AE73-C39E-0CCD-CD938FF8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5</a:t>
            </a:fld>
            <a:endParaRPr lang="en-IN"/>
          </a:p>
        </p:txBody>
      </p:sp>
      <p:sp>
        <p:nvSpPr>
          <p:cNvPr id="20" name="Code Box 20"/>
          <p:cNvSpPr txBox="1"/>
          <p:nvPr/>
        </p:nvSpPr>
        <p:spPr>
          <a:xfrm>
            <a:off x="6050000" y="1825625"/>
            <a:ext cx="5304000" cy="4351338"/>
          </a:xfrm>
          <a:prstGeom prst="rect">
            <a:avLst/>
          </a:prstGeom>
          <a:solidFill>
            <a:srgbClr val="F3F4F6"/>
          </a:solidFill>
          <a:ln w="9525">
            <a:solidFill>
              <a:srgbClr val="BFC5CD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// Print the inventory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for (int i = 0; i &lt; inventory.length; i++)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    System.out.println((i + 1) + ") 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        + inventory[i]);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}</a:t>
            </a:r>
          </a:p>
          <a:p>
            <a:pPr marL="0" indent="0">
              <a:buNone/>
            </a:pPr>
            <a:endParaRPr lang="en-US" sz="130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// Luhn: digits from right to left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for (int i = digits.length() - 1;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        i &gt;= 0; i--)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    // read digit, add to sum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    doubleIt = !doubleIt;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78111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BDDFB-DFEC-7A21-D889-17965A225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3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ACD64-BF58-761A-504E-C381351EE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00000" cy="4351338"/>
          </a:xfrm>
        </p:spPr>
        <p:txBody>
          <a:bodyPr>
            <a:normAutofit/>
          </a:bodyPr>
          <a:lstStyle/>
          <a:p>
            <a:pPr>
              <a:spcBef>
                <a:spcPts val="900"/>
              </a:spcBef>
            </a:pPr>
            <a:r>
              <a:rPr lang="en-IN" sz="2000" b="1" dirty="0"/>
              <a:t>Nested if: </a:t>
            </a:r>
            <a:r>
              <a:rPr lang="en-IN" sz="2000" dirty="0"/>
              <a:t>double the digit, then subtract 9 if the result is above 9.</a:t>
            </a:r>
          </a:p>
          <a:p>
            <a:pPr>
              <a:spcBef>
                <a:spcPts val="900"/>
              </a:spcBef>
            </a:pPr>
            <a:r>
              <a:rPr lang="en-IN" sz="2000" b="1" dirty="0"/>
              <a:t>Validation ifs: </a:t>
            </a:r>
            <a:r>
              <a:rPr lang="en-IN" sz="2000" dirty="0"/>
              <a:t>reject the card if the length is wrong or the Luhn check fails.</a:t>
            </a:r>
          </a:p>
          <a:p>
            <a:pPr>
              <a:spcBef>
                <a:spcPts val="900"/>
              </a:spcBef>
            </a:pPr>
            <a:r>
              <a:rPr lang="en-IN" sz="2000" b="1" dirty="0"/>
              <a:t>if / else if chain: </a:t>
            </a:r>
            <a:r>
              <a:rPr lang="en-IN" sz="2000" dirty="0"/>
              <a:t>picks the card type from the starting digits.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078FF-2013-E475-6F3D-0A16F8585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71FF-0CE0-4D83-9933-F69CED863D80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E39BA-552D-5E87-9C16-8B5724296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6</a:t>
            </a:fld>
            <a:endParaRPr lang="en-IN"/>
          </a:p>
        </p:txBody>
      </p:sp>
      <p:sp>
        <p:nvSpPr>
          <p:cNvPr id="20" name="Code Box 20"/>
          <p:cNvSpPr txBox="1"/>
          <p:nvPr/>
        </p:nvSpPr>
        <p:spPr>
          <a:xfrm>
            <a:off x="6050000" y="1825625"/>
            <a:ext cx="5304000" cy="4351338"/>
          </a:xfrm>
          <a:prstGeom prst="rect">
            <a:avLst/>
          </a:prstGeom>
          <a:solidFill>
            <a:srgbClr val="F3F4F6"/>
          </a:solidFill>
          <a:ln w="9525">
            <a:solidFill>
              <a:srgbClr val="BFC5CD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if (doubleIt)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    digit *= 2;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    if (digit &gt; 9)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        digit -= 9;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}</a:t>
            </a:r>
          </a:p>
          <a:p>
            <a:pPr marL="0" indent="0">
              <a:buNone/>
            </a:pPr>
            <a:endParaRPr lang="en-US" sz="130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if (!isLuhnValid(digits))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    throw new InvalidCardException(...);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}</a:t>
            </a:r>
          </a:p>
          <a:p>
            <a:pPr marL="0" indent="0">
              <a:buNone/>
            </a:pPr>
            <a:endParaRPr lang="en-US" sz="130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if (number.startsWith("4"))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    return "VISA";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} else if (firstTwo &gt;= 51 &amp;&amp; firstTwo &lt;= 55)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    return "MASTERCARD";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69875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E591A-E528-51A2-6477-BF5075B32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763C4-B644-2CBF-4AE1-87632858C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00000" cy="4351338"/>
          </a:xfrm>
        </p:spPr>
        <p:txBody>
          <a:bodyPr>
            <a:normAutofit/>
          </a:bodyPr>
          <a:lstStyle/>
          <a:p>
            <a:pPr>
              <a:spcBef>
                <a:spcPts val="900"/>
              </a:spcBef>
            </a:pPr>
            <a:r>
              <a:rPr lang="en-IN" sz="2000" b="1" dirty="0"/>
              <a:t>Parameterized: </a:t>
            </a:r>
            <a:r>
              <a:rPr lang="en-IN" sz="2000" dirty="0"/>
              <a:t>isLuhnValid(String digits) takes the card number and returns true or false.</a:t>
            </a:r>
          </a:p>
          <a:p>
            <a:pPr>
              <a:spcBef>
                <a:spcPts val="900"/>
              </a:spcBef>
            </a:pPr>
            <a:r>
              <a:rPr lang="en-IN" sz="2000" b="1" dirty="0"/>
              <a:t>Parameterized: </a:t>
            </a:r>
            <a:r>
              <a:rPr lang="en-IN" sz="2000" dirty="0"/>
              <a:t>main(String[] args) is the entry point of the program.</a:t>
            </a:r>
          </a:p>
          <a:p>
            <a:pPr>
              <a:spcBef>
                <a:spcPts val="900"/>
              </a:spcBef>
            </a:pPr>
            <a:r>
              <a:rPr lang="en-IN" sz="2000" b="1" dirty="0"/>
              <a:t>Non-parameterized: </a:t>
            </a:r>
            <a:r>
              <a:rPr lang="en-IN" sz="2000" dirty="0"/>
              <a:t>getCardType() and toString() take no input.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15390-19B0-38A3-419D-59F37FA3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53250B-C6BE-E742-A34D-6B496E77E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7</a:t>
            </a:fld>
            <a:endParaRPr lang="en-IN"/>
          </a:p>
        </p:txBody>
      </p:sp>
      <p:sp>
        <p:nvSpPr>
          <p:cNvPr id="20" name="Code Box 20"/>
          <p:cNvSpPr txBox="1"/>
          <p:nvPr/>
        </p:nvSpPr>
        <p:spPr>
          <a:xfrm>
            <a:off x="6050000" y="1825625"/>
            <a:ext cx="5304000" cy="4351338"/>
          </a:xfrm>
          <a:prstGeom prst="rect">
            <a:avLst/>
          </a:prstGeom>
          <a:solidFill>
            <a:srgbClr val="F3F4F6"/>
          </a:solidFill>
          <a:ln w="9525">
            <a:solidFill>
              <a:srgbClr val="BFC5CD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// Parameterized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private boolean isLuhnValid(String digits)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    ...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    return sum % 10 == 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}</a:t>
            </a:r>
          </a:p>
          <a:p>
            <a:pPr marL="0" indent="0">
              <a:buNone/>
            </a:pPr>
            <a:endParaRPr lang="en-US" sz="130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// Non-parameterized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public String getCardType()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    ...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    return "UNKNOWN";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}</a:t>
            </a:r>
          </a:p>
          <a:p>
            <a:pPr marL="0" indent="0">
              <a:buNone/>
            </a:pPr>
            <a:endParaRPr lang="en-US" sz="130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// Calling them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isLuhnValid(digits);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card.getCardType();</a:t>
            </a:r>
          </a:p>
        </p:txBody>
      </p:sp>
    </p:spTree>
    <p:extLst>
      <p:ext uri="{BB962C8B-B14F-4D97-AF65-F5344CB8AC3E}">
        <p14:creationId xmlns:p14="http://schemas.microsoft.com/office/powerpoint/2010/main" val="2034974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4DDC3-4D1F-21CF-55F4-04AC539E2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2B8C9-B5A8-6FD1-7D16-20BF4FBD7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00000" cy="4351338"/>
          </a:xfrm>
        </p:spPr>
        <p:txBody>
          <a:bodyPr>
            <a:normAutofit/>
          </a:bodyPr>
          <a:lstStyle/>
          <a:p>
            <a:pPr>
              <a:spcBef>
                <a:spcPts val="900"/>
              </a:spcBef>
            </a:pPr>
            <a:r>
              <a:rPr lang="en-IN" sz="2000" b="1" dirty="0"/>
              <a:t>Product(String name, int price): </a:t>
            </a:r>
            <a:r>
              <a:rPr lang="en-IN" sz="2000" dirty="0"/>
              <a:t>sets the product fields using this.</a:t>
            </a:r>
          </a:p>
          <a:p>
            <a:pPr>
              <a:spcBef>
                <a:spcPts val="900"/>
              </a:spcBef>
            </a:pPr>
            <a:r>
              <a:rPr lang="en-IN" sz="2000" b="1" dirty="0"/>
              <a:t>Card(String input): </a:t>
            </a:r>
            <a:r>
              <a:rPr lang="en-IN" sz="2000" dirty="0"/>
              <a:t>checks the number and creates no Card if it is bad.</a:t>
            </a:r>
          </a:p>
          <a:p>
            <a:pPr>
              <a:spcBef>
                <a:spcPts val="900"/>
              </a:spcBef>
            </a:pPr>
            <a:r>
              <a:rPr lang="en-IN" sz="2000" b="1" dirty="0"/>
              <a:t>InvalidCardException(String message): </a:t>
            </a:r>
            <a:r>
              <a:rPr lang="en-IN" sz="2000" dirty="0"/>
              <a:t>passes the message to super().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D4194-282F-9DD3-B905-AF4DCC709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2EFFB7-2020-7F21-31F3-A08A79B5E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8</a:t>
            </a:fld>
            <a:endParaRPr lang="en-IN"/>
          </a:p>
        </p:txBody>
      </p:sp>
      <p:sp>
        <p:nvSpPr>
          <p:cNvPr id="20" name="Code Box 20"/>
          <p:cNvSpPr txBox="1"/>
          <p:nvPr/>
        </p:nvSpPr>
        <p:spPr>
          <a:xfrm>
            <a:off x="6050000" y="1825625"/>
            <a:ext cx="5304000" cy="4351338"/>
          </a:xfrm>
          <a:prstGeom prst="rect">
            <a:avLst/>
          </a:prstGeom>
          <a:solidFill>
            <a:srgbClr val="F3F4F6"/>
          </a:solidFill>
          <a:ln w="9525">
            <a:solidFill>
              <a:srgbClr val="BFC5CD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public Product(String name, int price)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    this.name = name;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    this.price = price;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}</a:t>
            </a:r>
          </a:p>
          <a:p>
            <a:pPr marL="0" indent="0">
              <a:buNone/>
            </a:pPr>
            <a:endParaRPr lang="en-US" sz="130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public Card(String input)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        throws InvalidCardException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    // validate, then store the number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    this.number = digits;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}</a:t>
            </a:r>
          </a:p>
          <a:p>
            <a:pPr marL="0" indent="0">
              <a:buNone/>
            </a:pPr>
            <a:endParaRPr lang="en-US" sz="130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public InvalidCardException(String message)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    super(message);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77368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7C36F-68C1-38D5-BFA7-072938C7F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AB529-5F96-F28F-CD50-8BFE419EE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00000" cy="4351338"/>
          </a:xfrm>
        </p:spPr>
        <p:txBody>
          <a:bodyPr>
            <a:normAutofit/>
          </a:bodyPr>
          <a:lstStyle/>
          <a:p>
            <a:pPr>
              <a:spcBef>
                <a:spcPts val="900"/>
              </a:spcBef>
            </a:pPr>
            <a:r>
              <a:rPr lang="en-IN" sz="2000" b="1" dirty="0"/>
              <a:t>trim() and replace(): </a:t>
            </a:r>
            <a:r>
              <a:rPr lang="en-IN" sz="2000" dirty="0"/>
              <a:t>clean the typed input and remove spaces.</a:t>
            </a:r>
          </a:p>
          <a:p>
            <a:pPr>
              <a:spcBef>
                <a:spcPts val="900"/>
              </a:spcBef>
            </a:pPr>
            <a:r>
              <a:rPr lang="en-IN" sz="2000" b="1" dirty="0"/>
              <a:t>matches(): </a:t>
            </a:r>
            <a:r>
              <a:rPr lang="en-IN" sz="2000" dirty="0"/>
              <a:t>checks the card is 15 or 16 digits using a pattern.</a:t>
            </a:r>
          </a:p>
          <a:p>
            <a:pPr>
              <a:spcBef>
                <a:spcPts val="900"/>
              </a:spcBef>
            </a:pPr>
            <a:r>
              <a:rPr lang="en-IN" sz="2000" b="1" dirty="0"/>
              <a:t>charAt(), length(): </a:t>
            </a:r>
            <a:r>
              <a:rPr lang="en-IN" sz="2000" dirty="0"/>
              <a:t>read each digit of the card number.</a:t>
            </a:r>
          </a:p>
          <a:p>
            <a:pPr>
              <a:spcBef>
                <a:spcPts val="900"/>
              </a:spcBef>
            </a:pPr>
            <a:r>
              <a:rPr lang="en-IN" sz="2000" b="1" dirty="0"/>
              <a:t>substring(), startsWith(): </a:t>
            </a:r>
            <a:r>
              <a:rPr lang="en-IN" sz="2000" dirty="0"/>
              <a:t>read the first digits to find the card type.</a:t>
            </a:r>
          </a:p>
          <a:p>
            <a:pPr>
              <a:spcBef>
                <a:spcPts val="900"/>
              </a:spcBef>
            </a:pPr>
            <a:r>
              <a:rPr lang="en-IN" sz="2000" b="1" dirty="0"/>
              <a:t>Concatenation: </a:t>
            </a:r>
            <a:r>
              <a:rPr lang="en-IN" sz="2000" dirty="0"/>
              <a:t>builds the inventory and cart messages.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7D639-42E4-340C-86C7-AC49E0E49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D618D2-09FF-1F94-1B2A-BA5BD90DF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9</a:t>
            </a:fld>
            <a:endParaRPr lang="en-IN"/>
          </a:p>
        </p:txBody>
      </p:sp>
      <p:sp>
        <p:nvSpPr>
          <p:cNvPr id="20" name="Code Box 20"/>
          <p:cNvSpPr txBox="1"/>
          <p:nvPr/>
        </p:nvSpPr>
        <p:spPr>
          <a:xfrm>
            <a:off x="6050000" y="1825625"/>
            <a:ext cx="5304000" cy="4351338"/>
          </a:xfrm>
          <a:prstGeom prst="rect">
            <a:avLst/>
          </a:prstGeom>
          <a:solidFill>
            <a:srgbClr val="F3F4F6"/>
          </a:solidFill>
          <a:ln w="9525">
            <a:solidFill>
              <a:srgbClr val="BFC5CD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scanner.nextLine().trim()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input.replace(" ", "")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digits.matches("\\d{15,16}")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digits.length()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digits.charAt(i) - '0'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number.substring(0, 2)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number.startsWith("4")</a:t>
            </a:r>
          </a:p>
          <a:p>
            <a:pPr marL="0" indent="0">
              <a:buNone/>
            </a:pPr>
            <a:endParaRPr lang="en-US" sz="130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(i + 1) + ") " + inventory[i]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"Your cart is - " + item</a:t>
            </a:r>
          </a:p>
        </p:txBody>
      </p:sp>
    </p:spTree>
    <p:extLst>
      <p:ext uri="{BB962C8B-B14F-4D97-AF65-F5344CB8AC3E}">
        <p14:creationId xmlns:p14="http://schemas.microsoft.com/office/powerpoint/2010/main" val="707117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AD3A7-F925-7472-F39D-15B33FC20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290F1-736B-3136-6FB3-89FC4E638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spcBef>
                <a:spcPts val="900"/>
              </a:spcBef>
            </a:pPr>
            <a:r>
              <a:rPr lang="en-IN" sz="2400" dirty="0"/>
              <a:t>One working program covers variables, loops, if statements, methods, constructors and String handling.</a:t>
            </a:r>
          </a:p>
          <a:p>
            <a:pPr>
              <a:spcBef>
                <a:spcPts val="900"/>
              </a:spcBef>
            </a:pPr>
            <a:r>
              <a:rPr lang="en-IN" sz="2400" dirty="0"/>
              <a:t>The Luhn check catches mistyped card numbers before the payment is made.</a:t>
            </a:r>
          </a:p>
          <a:p>
            <a:pPr>
              <a:spcBef>
                <a:spcPts val="900"/>
              </a:spcBef>
            </a:pPr>
            <a:r>
              <a:rPr lang="en-IN" sz="2400" dirty="0"/>
              <a:t>A custom exception with try / catch / finally keeps the program from crashing on bad input.</a:t>
            </a:r>
          </a:p>
          <a:p>
            <a:pPr>
              <a:spcBef>
                <a:spcPts val="900"/>
              </a:spcBef>
            </a:pPr>
            <a:r>
              <a:rPr lang="en-IN" sz="2400" b="1" dirty="0"/>
              <a:t>Future scope: </a:t>
            </a:r>
            <a:r>
              <a:rPr lang="en-IN" sz="2400" dirty="0"/>
              <a:t>quantity and cart total, more card types, a GUI and a database.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20CA1-D5C4-5904-1345-350900EF2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92BF1E-562C-F1F9-8BD5-71BDFB343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964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77661-8074-79B2-B035-E36DFB309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Screen Shots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311A9-71C6-FE7D-18DF-375E38D50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B251AB-4887-6558-97BB-1B1D91803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11</a:t>
            </a:fld>
            <a:endParaRPr lang="en-IN"/>
          </a:p>
        </p:txBody>
      </p:sp>
      <p:sp>
        <p:nvSpPr>
          <p:cNvPr id="20" name="Frame 20"/>
          <p:cNvSpPr/>
          <p:nvPr/>
        </p:nvSpPr>
        <p:spPr>
          <a:xfrm>
            <a:off x="838200" y="1900000"/>
            <a:ext cx="3300000" cy="350000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1" name="Caption 21"/>
          <p:cNvSpPr txBox="1"/>
          <p:nvPr/>
        </p:nvSpPr>
        <p:spPr>
          <a:xfrm>
            <a:off x="838200" y="5460000"/>
            <a:ext cx="3300000" cy="3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IN" sz="1400" dirty="0">
                <a:solidFill>
                  <a:srgbClr val="4B5563"/>
                </a:solidFill>
              </a:rPr>
              <a:t>Inventory and item selection</a:t>
            </a:r>
          </a:p>
        </p:txBody>
      </p:sp>
      <p:sp>
        <p:nvSpPr>
          <p:cNvPr id="22" name="Frame 22"/>
          <p:cNvSpPr/>
          <p:nvPr/>
        </p:nvSpPr>
        <p:spPr>
          <a:xfrm>
            <a:off x="4446000" y="1900000"/>
            <a:ext cx="3300000" cy="350000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3" name="Caption 23"/>
          <p:cNvSpPr txBox="1"/>
          <p:nvPr/>
        </p:nvSpPr>
        <p:spPr>
          <a:xfrm>
            <a:off x="4446000" y="5460000"/>
            <a:ext cx="3300000" cy="3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IN" sz="1400" dirty="0">
                <a:solidFill>
                  <a:srgbClr val="4B5563"/>
                </a:solidFill>
              </a:rPr>
              <a:t>Successful payment</a:t>
            </a:r>
          </a:p>
        </p:txBody>
      </p:sp>
      <p:sp>
        <p:nvSpPr>
          <p:cNvPr id="24" name="Frame 24"/>
          <p:cNvSpPr/>
          <p:nvPr/>
        </p:nvSpPr>
        <p:spPr>
          <a:xfrm>
            <a:off x="8053800" y="1900000"/>
            <a:ext cx="3300000" cy="350000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5" name="Caption 25"/>
          <p:cNvSpPr txBox="1"/>
          <p:nvPr/>
        </p:nvSpPr>
        <p:spPr>
          <a:xfrm>
            <a:off x="8053800" y="5460000"/>
            <a:ext cx="3300000" cy="3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IN" sz="1400" dirty="0">
                <a:solidFill>
                  <a:srgbClr val="4B5563"/>
                </a:solidFill>
              </a:rPr>
              <a:t>Invalid card or wrong input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46D542-6C94-B638-4146-C75D2ADDB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653" y="1444349"/>
            <a:ext cx="3481547" cy="39556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DE69ED3-42DD-E99C-BE09-5C6069E705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747" y="1444349"/>
            <a:ext cx="3652617" cy="395565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686C706-3791-C844-F105-66BC06D72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3800" y="1444349"/>
            <a:ext cx="3522785" cy="3955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298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EF2EB-DC8E-A39F-8C45-4CB818547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Geo Tag Photo and git hub link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4BAD5-7EFF-4B1E-4929-B42B4691D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4C08-598A-44BF-A4B1-00F35979A9B0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CFBAF-EF7C-CF04-7D6A-23B99B45B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12</a:t>
            </a:fld>
            <a:endParaRPr lang="en-IN"/>
          </a:p>
        </p:txBody>
      </p:sp>
      <p:sp>
        <p:nvSpPr>
          <p:cNvPr id="20" name="Frame 20"/>
          <p:cNvSpPr/>
          <p:nvPr/>
        </p:nvSpPr>
        <p:spPr>
          <a:xfrm>
            <a:off x="838200" y="1900000"/>
            <a:ext cx="5100000" cy="350000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1" name="Caption 21"/>
          <p:cNvSpPr txBox="1"/>
          <p:nvPr/>
        </p:nvSpPr>
        <p:spPr>
          <a:xfrm>
            <a:off x="838200" y="5460000"/>
            <a:ext cx="5100000" cy="3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IN" sz="1400" dirty="0">
                <a:solidFill>
                  <a:srgbClr val="4B5563"/>
                </a:solidFill>
              </a:rPr>
              <a:t>Geo Tag Photo</a:t>
            </a:r>
          </a:p>
        </p:txBody>
      </p:sp>
      <p:sp>
        <p:nvSpPr>
          <p:cNvPr id="23" name="Caption 23">
            <a:hlinkClick r:id="rId2"/>
          </p:cNvPr>
          <p:cNvSpPr txBox="1"/>
          <p:nvPr/>
        </p:nvSpPr>
        <p:spPr>
          <a:xfrm>
            <a:off x="6253802" y="3048088"/>
            <a:ext cx="5100000" cy="3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IN" sz="3600" dirty="0">
                <a:solidFill>
                  <a:srgbClr val="4B5563"/>
                </a:solidFill>
              </a:rPr>
              <a:t>GitHub</a:t>
            </a:r>
          </a:p>
        </p:txBody>
      </p:sp>
    </p:spTree>
    <p:extLst>
      <p:ext uri="{BB962C8B-B14F-4D97-AF65-F5344CB8AC3E}">
        <p14:creationId xmlns:p14="http://schemas.microsoft.com/office/powerpoint/2010/main" val="1396777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982</Words>
  <Application>Microsoft Office PowerPoint</Application>
  <PresentationFormat>Widescreen</PresentationFormat>
  <Paragraphs>154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Courier New</vt:lpstr>
      <vt:lpstr>Office Theme</vt:lpstr>
      <vt:lpstr>Online Shopping Checkout with Card Validation Team No</vt:lpstr>
      <vt:lpstr>Abstract</vt:lpstr>
      <vt:lpstr>Understanding Problem Statement</vt:lpstr>
      <vt:lpstr>CO 1 Topics</vt:lpstr>
      <vt:lpstr>Co 2 TOPICS</vt:lpstr>
      <vt:lpstr>CO 3 Topics</vt:lpstr>
      <vt:lpstr>CO 4</vt:lpstr>
      <vt:lpstr>CO 5</vt:lpstr>
      <vt:lpstr>CO 6</vt:lpstr>
      <vt:lpstr>Conclusion</vt:lpstr>
      <vt:lpstr>Screen Shots</vt:lpstr>
      <vt:lpstr>Geo Tag Photo and git hub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TSP MADHURI</dc:creator>
  <cp:lastModifiedBy>Aanurag Chakraborty</cp:lastModifiedBy>
  <cp:revision>2</cp:revision>
  <dcterms:created xsi:type="dcterms:W3CDTF">2026-09-15T09:57:10Z</dcterms:created>
  <dcterms:modified xsi:type="dcterms:W3CDTF">2026-10-16T03:08:30Z</dcterms:modified>
</cp:coreProperties>
</file>